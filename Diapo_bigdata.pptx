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9" r:id="rId13"/>
    <p:sldId id="270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30" autoAdjust="0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71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1A2E"/>
                </a:solidFill>
                <a:latin typeface="Calibri"/>
              </a:defRPr>
            </a:pPr>
            <a:r>
              <a:rPr lang="fr-FR" sz="1400" b="0" i="0" u="none" strike="noStrike">
                <a:solidFill>
                  <a:srgbClr val="1A1A2E"/>
                </a:solidFill>
                <a:latin typeface="Calibri"/>
              </a:rPr>
              <a:t>R² sur le jeu de test (plus proche de 0 = mieux)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(test)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Naïve (0)</c:v>
                </c:pt>
                <c:pt idx="1">
                  <c:v>LSTM</c:v>
                </c:pt>
                <c:pt idx="2">
                  <c:v>Linéaire</c:v>
                </c:pt>
                <c:pt idx="3">
                  <c:v>Random Forest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-8.0999999999999996E-3</c:v>
                </c:pt>
                <c:pt idx="2">
                  <c:v>-1.23E-2</c:v>
                </c:pt>
                <c:pt idx="3">
                  <c:v>-2.0899999999999998E-2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2E-4661-A678-A02D3A9C749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A1A2E"/>
                </a:solidFill>
                <a:latin typeface="Calibri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.0000000000000001E-3"/>
          <c:min val="-2.5000000000000001E-2"/>
        </c:scaling>
        <c:delete val="0"/>
        <c:axPos val="l"/>
        <c:majorGridlines>
          <c:spPr>
            <a:ln w="12700" cap="flat">
              <a:solidFill>
                <a:srgbClr val="E4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85"/>
                </a:solidFill>
                <a:latin typeface="Calibri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9048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74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2 FD IEF — BIG DATA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332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des médias et de la conjoncture</a:t>
            </a:r>
            <a:endParaRPr lang="en-US" sz="42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 les marchés financiers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434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de presse (FinBERT), modèle APT et prédiction (LSTM, Random Forest) — S&amp;P 500, 2018–2020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5120640"/>
            <a:ext cx="2011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5303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Mathis LE DEAN – Titouan GREE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669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</a:t>
            </a:r>
            <a:r>
              <a:rPr lang="en-US" sz="13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universitaire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2026–2027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questions de départ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2860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965960"/>
            <a:ext cx="9601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entreprises réagissent-elles pareil au climat médiatique 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38328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37033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3383280"/>
            <a:ext cx="9601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 effet tient-il une fois qu'on retire le marché et la conjoncture ?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480060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5120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5120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4800600"/>
            <a:ext cx="9601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sentiment de la veille permet-il de prévoir le rendement du lendemain ?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</a:t>
            </a:r>
            <a:r>
              <a:rPr lang="en-US" sz="3200" b="1" dirty="0" err="1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outils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331720"/>
            <a:ext cx="640080" cy="640080"/>
          </a:xfrm>
          <a:prstGeom prst="ellipse">
            <a:avLst/>
          </a:prstGeom>
          <a:solidFill>
            <a:srgbClr val="1B6B5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31546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NLP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65760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 transforme chaque titre de presse en un score de sentiment (-1 à +1).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4840" y="201168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23317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54880" y="31546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APT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365760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multi-facteurs : isole l'effet du sentiment du marché et de la conjoncture.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0" y="201168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8549640" y="2331720"/>
            <a:ext cx="640080" cy="640080"/>
          </a:xfrm>
          <a:prstGeom prst="ellipse">
            <a:avLst/>
          </a:prstGeom>
          <a:solidFill>
            <a:srgbClr val="A3322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49640" y="31546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Prédiction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549640" y="365760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LSTM, régression linéaire, Random Forest : le sentiment de la veille prédit-il le lendemain 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CAC 40 au S&amp;P 500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303520" cy="3749040"/>
          </a:xfrm>
          <a:prstGeom prst="roundRect">
            <a:avLst>
              <a:gd name="adj" fmla="val 1951"/>
            </a:avLst>
          </a:prstGeom>
          <a:solidFill>
            <a:srgbClr val="F4F6F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423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A33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SUJET INITIAL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834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 40 · 2010–2025 · GDELT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429000"/>
            <a:ext cx="4663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GDELT ne couvre le sentiment que depuis 2013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limitée à 1 requête / 5 secondes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Fenêtres de requête plafonnées à 1 an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2148840"/>
            <a:ext cx="5303520" cy="3749040"/>
          </a:xfrm>
          <a:prstGeom prst="roundRect">
            <a:avLst>
              <a:gd name="adj" fmla="val 1951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0" y="2423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SUJET RETENU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834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S&amp;P 500 · 2018–2020 · FNSPID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3429000"/>
            <a:ext cx="4663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académique (KDD 2024) déjà collecté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+ articles de presse alignés dans le temps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question de recherche, même méthode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50 </a:t>
            </a:r>
            <a:r>
              <a:rPr lang="en-US" sz="3200" b="1" dirty="0" err="1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entreprises</a:t>
            </a: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à 48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50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51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grosses capi S&amp;P 500, liste figée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912212" y="1965960"/>
            <a:ext cx="6683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B6B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337126" y="2651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entreprises retenues, base finale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458200" y="19659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DuckDB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458200" y="26517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fichier, optimisé analytique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1088136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structurée en 3 tables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480560"/>
          <a:ext cx="10881360" cy="173736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 des 48 tickers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OHLCV quotidien, prix ajustés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30 096 lignes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titre + score de sentiment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45 425 lignes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446FC47C-23D9-4F02-8FB2-604156C6BA40}"/>
              </a:ext>
            </a:extLst>
          </p:cNvPr>
          <p:cNvSpPr txBox="1"/>
          <p:nvPr/>
        </p:nvSpPr>
        <p:spPr>
          <a:xfrm>
            <a:off x="3543074" y="3240762"/>
            <a:ext cx="34065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Microsoft, Goldman Sachs </a:t>
            </a:r>
            <a:r>
              <a:rPr lang="en-US" sz="1800" dirty="0" err="1">
                <a:solidFill>
                  <a:schemeClr val="bg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exclues</a:t>
            </a:r>
            <a:r>
              <a:rPr lang="en-US" sz="18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fr-F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RIGUEUR MÉTHODOLOGIQUE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bug trouvé, et corrigé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14574" y="1661431"/>
            <a:ext cx="6065520" cy="18975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traçant le cours de </a:t>
            </a: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Tesla,saut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prix irréaliste vers août 2020.</a:t>
            </a:r>
            <a:endParaRPr lang="en-US" sz="16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: les </a:t>
            </a: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close et </a:t>
            </a: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adj_close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FNSPID </a:t>
            </a: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sont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identiques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Tesla </a:t>
            </a: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ayant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splitté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(2020), </a:t>
            </a: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deux </a:t>
            </a: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n'est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réellement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ajustée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: prix des 48 entreprises retéléchargés directement depuis Yahoo Finance (correctement </a:t>
            </a: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ajustés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</a:p>
        </p:txBody>
      </p:sp>
      <p:sp>
        <p:nvSpPr>
          <p:cNvPr id="8" name="Text 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CA8ADDFD-6435-40B8-BF5A-577BB1ACE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574" y="3544645"/>
            <a:ext cx="5815376" cy="2473091"/>
          </a:xfrm>
          <a:prstGeom prst="rect">
            <a:avLst/>
          </a:prstGeom>
        </p:spPr>
      </p:pic>
      <p:sp>
        <p:nvSpPr>
          <p:cNvPr id="14" name="Ellipse 13">
            <a:extLst>
              <a:ext uri="{FF2B5EF4-FFF2-40B4-BE49-F238E27FC236}">
                <a16:creationId xmlns:a16="http://schemas.microsoft.com/office/drawing/2014/main" id="{FEE2BEF0-4D26-4690-80D3-E69FE5C8AF26}"/>
              </a:ext>
            </a:extLst>
          </p:cNvPr>
          <p:cNvSpPr/>
          <p:nvPr/>
        </p:nvSpPr>
        <p:spPr>
          <a:xfrm>
            <a:off x="4807176" y="3901468"/>
            <a:ext cx="923365" cy="85881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532BD1E-F5AE-4E2F-BF89-B8408AC1E4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5347" y="3485534"/>
            <a:ext cx="4323388" cy="2549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FinBERT : du titre au score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modèle BERT généraliste se trompe sur le vocabulaire financier (« miss », « tumble »…). FinBERT est ré-entraîné sur du texte financier anglais.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15322" y="940400"/>
            <a:ext cx="4381500" cy="528469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98292" y="889747"/>
            <a:ext cx="3783106" cy="6893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P(positif) − P(négatif)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4B9002E1-C037-40F5-A16C-C409C6C5A3B8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12309" y="2440361"/>
            <a:ext cx="6995832" cy="403467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modèle APT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 (Ross, 1976) plutôt que CAPM : plusieurs facteurs en même temps, pour isoler l'effet du sentiment de celui du marché et de la conjoncture.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1" y="2514600"/>
            <a:ext cx="11277294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6339" y="2776367"/>
            <a:ext cx="12028842" cy="9395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Rendement(i,t) = α(i) + β</a:t>
            </a:r>
            <a:r>
              <a:rPr lang="en-US" sz="1400" b="1" baseline="-40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marché</a:t>
            </a:r>
            <a:r>
              <a:rPr lang="en-US" sz="14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·Marché(t) + β</a:t>
            </a:r>
            <a:r>
              <a:rPr lang="en-US" sz="1400" b="1" baseline="-40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sentiment</a:t>
            </a:r>
            <a:r>
              <a:rPr lang="en-US" sz="14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·Sentiment(i,t) + β</a:t>
            </a:r>
            <a:r>
              <a:rPr lang="en-US" sz="1400" b="1" baseline="-40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taux</a:t>
            </a:r>
            <a:r>
              <a:rPr lang="en-US" sz="14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·Δtaux(t) + β</a:t>
            </a:r>
            <a:r>
              <a:rPr lang="en-US" sz="1400" b="1" baseline="-40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vix</a:t>
            </a:r>
            <a:r>
              <a:rPr lang="en-US" sz="14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·Δvix(t) + ε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42519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des rendements des 48 entreprises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800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4800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quotidien par entreprise ; jour sans article = neutre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3492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taux 10 ans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53492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 (DGS10) — anticipations de politique monétaire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8978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VIX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58978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 (VIXCLS) — stress / incertitude du marché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— APT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Tesla domine très largement</a:t>
            </a:r>
            <a:endParaRPr lang="en-US" sz="3200" dirty="0"/>
          </a:p>
        </p:txBody>
      </p:sp>
      <p:pic>
        <p:nvPicPr>
          <p:cNvPr id="4" name="Image 0" descr="/mnt/user-data/uploads/1_classement_beta_senti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691640"/>
            <a:ext cx="3730752" cy="47091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1031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B6B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0,0446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889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sentiment de Tesla — 3x le n°2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4290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 / 44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1148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sentiment significatifs (p&lt;0,05)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484632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bêtas de marché valident le modèle indépendamment : valeurs défensives → bêta faible, valeurs tech/cycliques → bêta élevé. Conforme à la théorie classique.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— CAS D'ÉTUDE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Tesla : sentiment et cours, 2018–2020</a:t>
            </a:r>
            <a:endParaRPr lang="en-US" sz="3200" dirty="0"/>
          </a:p>
        </p:txBody>
      </p:sp>
      <p:pic>
        <p:nvPicPr>
          <p:cNvPr id="4" name="Image 0" descr="/mnt/user-data/uploads/2_tesla_sentiment_vs_p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1691640"/>
            <a:ext cx="8165592" cy="4023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58521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sentiment suit d'assez près les grandes phases du cours : remontée fin 2019, forte volatilité pendant le krach Covid de mars 2020, puis l'envolée qui suit.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— PRÉDICTION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Aucun modèle ne bat le hasard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sentiment de la veille prédit-il le rendement du lendemain ? Trois familles de modèles testées, même tâche, même découpage chronologique.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914400" y="2331720"/>
          <a:ext cx="103327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lectures, et des limites assumées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03520" cy="2286000"/>
          </a:xfrm>
          <a:prstGeom prst="roundRect">
            <a:avLst>
              <a:gd name="adj" fmla="val 3200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B6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EFFICIENT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7744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L'info est intégrée aux prix presque instantanément : lien fort le jour même, nul le lendemain.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303520" cy="2286000"/>
          </a:xfrm>
          <a:prstGeom prst="roundRect">
            <a:avLst>
              <a:gd name="adj" fmla="val 3200"/>
            </a:avLst>
          </a:prstGeom>
          <a:solidFill>
            <a:srgbClr val="F4F6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37960" y="19659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A33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CAUSALITÉ INVERSE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37744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titres comme « Broadcom shares are up 4.3% » décrivent un mouvement déjà survenu — la presse ne fait parfois que le rapporter.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251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61772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Couverture de presse inégale (Microsoft, Goldman Sachs absentes)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Titres seuls, pas le texte complet des articles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 raccourcie (2018–mi 2020) et facteur marché approché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lien réel le jour même. Aucun pouvoir de prédiction le lendemain.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749040"/>
            <a:ext cx="9326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sentiment de presse explique une partie des rendements du jour, très inégalement selon les entreprises — mais il ne prédit rien sur le lendemain, avec aucun des trois modèles testés. Un résultat cohérent avec un marché qui intègre l'information rapidement.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5577840"/>
            <a:ext cx="2011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5760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838</Words>
  <Application>Microsoft Office PowerPoint</Application>
  <PresentationFormat>Grand écran</PresentationFormat>
  <Paragraphs>129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Titouan Gree</cp:lastModifiedBy>
  <cp:revision>12</cp:revision>
  <dcterms:created xsi:type="dcterms:W3CDTF">2026-09-24T21:52:00Z</dcterms:created>
  <dcterms:modified xsi:type="dcterms:W3CDTF">2026-09-25T09:46:51Z</dcterms:modified>
</cp:coreProperties>
</file>